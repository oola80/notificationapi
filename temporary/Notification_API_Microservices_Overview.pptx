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2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Notification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D6"/>
                </a:solidFill>
                <a:latin typeface="Segoe UI"/>
              </a:defRPr>
            </a:pPr>
            <a:r>
              <a:t>Visión General de la Plataforma de 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Plataforma </a:t>
            </a:r>
            <a:r>
              <a:rPr dirty="0" err="1"/>
              <a:t>unificada</a:t>
            </a:r>
            <a:r>
              <a:rPr dirty="0"/>
              <a:t> de </a:t>
            </a:r>
            <a:r>
              <a:rPr dirty="0" err="1"/>
              <a:t>notificaciones</a:t>
            </a:r>
            <a:r>
              <a:rPr dirty="0"/>
              <a:t> para eCommerce - </a:t>
            </a:r>
            <a:r>
              <a:rPr dirty="0" err="1"/>
              <a:t>consolida</a:t>
            </a:r>
            <a:r>
              <a:rPr dirty="0"/>
              <a:t> </a:t>
            </a:r>
            <a:r>
              <a:rPr dirty="0" err="1"/>
              <a:t>notificaciones</a:t>
            </a:r>
            <a:r>
              <a:rPr dirty="0"/>
              <a:t> </a:t>
            </a:r>
            <a:r>
              <a:rPr dirty="0" err="1"/>
              <a:t>fragmentadas</a:t>
            </a:r>
            <a:r>
              <a:rPr lang="es-GT" dirty="0"/>
              <a:t> </a:t>
            </a:r>
            <a:r>
              <a:rPr dirty="0"/>
              <a:t>de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fuente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 de </a:t>
            </a:r>
            <a:r>
              <a:rPr dirty="0" err="1"/>
              <a:t>microservicios</a:t>
            </a:r>
            <a:r>
              <a:rPr dirty="0"/>
              <a:t> </a:t>
            </a:r>
            <a:r>
              <a:rPr dirty="0" err="1"/>
              <a:t>basada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.</a:t>
            </a:r>
            <a:br>
              <a:rPr dirty="0"/>
            </a:b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2011680" cy="11887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97B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Servicios Totales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754880"/>
            <a:ext cx="2011680" cy="11887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97B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394960"/>
            <a:ext cx="2011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rPr dirty="0" err="1"/>
              <a:t>Implementados</a:t>
            </a:r>
            <a:endParaRPr lang="es-GT" dirty="0"/>
          </a:p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rPr lang="es-GT" dirty="0"/>
              <a:t>(Core)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309360" y="4754880"/>
            <a:ext cx="2011680" cy="11887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97B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Pendientes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754880"/>
            <a:ext cx="2011680" cy="118872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97B"/>
                </a:solidFill>
                <a:latin typeface="Segoe UI"/>
              </a:defRPr>
            </a:pPr>
            <a:r>
              <a:t>~104K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394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Líneas de Código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Diseño: Feb 19 - Feb 28, 2026  |  Desarrollo: Feb 23 - Mar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Cronograma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Diseño: Feb 19-28  |  Implementación: Feb 23 - Mar 5  |  Total: ~15 días (diseño + desarrollo)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Feb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01737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Feb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7394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Feb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3051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Feb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8708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Feb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365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Mar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0022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Mar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1188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Segoe UI"/>
              </a:defRPr>
            </a:pPr>
            <a:r>
              <a:t>Mar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Fase de Diseño (todos los servicios)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691640"/>
            <a:ext cx="4937759" cy="2743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691640"/>
            <a:ext cx="475487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19 - Feb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event-ingestion-service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2194560"/>
            <a:ext cx="3840480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0" y="2194560"/>
            <a:ext cx="3657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23 - Mar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notification-engine-service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697480"/>
            <a:ext cx="3840480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2697480"/>
            <a:ext cx="3657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24 - Mar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template-service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200400"/>
            <a:ext cx="3291840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79" y="3200400"/>
            <a:ext cx="31089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25 - Mar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channel-router-service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703320"/>
            <a:ext cx="2743200" cy="2743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3703320"/>
            <a:ext cx="2560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26 - Mar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provider-adapters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206240"/>
            <a:ext cx="2743200" cy="2743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4206240"/>
            <a:ext cx="25603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26 - Mar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audit-service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709160"/>
            <a:ext cx="1645920" cy="2743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4709160"/>
            <a:ext cx="1463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27 - Mar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bulk-upload-service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5212080"/>
            <a:ext cx="1645920" cy="2743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0" y="5212080"/>
            <a:ext cx="1463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27 - Mar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notification-admin-ui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5715000"/>
            <a:ext cx="1645920" cy="27432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5715000"/>
            <a:ext cx="1463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rPr sz="1050"/>
              <a:t>Feb 27 - Mar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Los servicios se desarrollaron en flujos paralelos con cronogramas superpuestos. Los documentos de diseño precedieron a la implementación por 2-4 días por servicio.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Notificación</a:t>
            </a:r>
            <a:r>
              <a:rPr dirty="0"/>
              <a:t> — </a:t>
            </a:r>
            <a:r>
              <a:rPr lang="es-ES" dirty="0" err="1"/>
              <a:t>End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End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Pipeline basado en eventos: Sistemas Fuente  &gt;&gt;  Ingestión  &gt;&gt;  Motor  &gt;&gt;  Renderizado  &gt;&gt;  Enrutamiento  &gt;&gt;  Entrega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554480" cy="1463040"/>
          </a:xfrm>
          <a:prstGeom prst="roundRect">
            <a:avLst/>
          </a:prstGeom>
          <a:solidFill>
            <a:srgbClr val="3A3A5C"/>
          </a:solidFill>
          <a:ln w="19050">
            <a:solidFill>
              <a:srgbClr val="88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Source</a:t>
            </a:r>
            <a:br/>
            <a:r>
              <a:t>Systems</a:t>
            </a:r>
            <a:br/>
            <a:br/>
            <a:r>
              <a:t>OMS</a:t>
            </a:r>
            <a:br/>
            <a:r>
              <a:t>Magento</a:t>
            </a:r>
            <a:br/>
            <a:r>
              <a:t>Mirakl</a:t>
            </a:r>
            <a:br/>
            <a:r>
              <a:t>Chat</a:t>
            </a:r>
            <a:br/>
            <a:r>
              <a:t>Manual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901952"/>
            <a:ext cx="457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sosceles Triangle 6"/>
          <p:cNvSpPr/>
          <p:nvPr/>
        </p:nvSpPr>
        <p:spPr>
          <a:xfrm rot="5400000">
            <a:off x="2286000" y="1865376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4519" y="1554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99"/>
                </a:solidFill>
                <a:latin typeface="Segoe UI"/>
              </a:defRPr>
            </a:pPr>
            <a:r>
              <a:t>REST /</a:t>
            </a:r>
            <a:br/>
            <a:r>
              <a:t>AMQP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371600"/>
            <a:ext cx="1554480" cy="1097280"/>
          </a:xfrm>
          <a:prstGeom prst="roundRect">
            <a:avLst/>
          </a:prstGeom>
          <a:solidFill>
            <a:srgbClr val="00508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Event </a:t>
            </a:r>
            <a:r>
              <a:rPr dirty="0" err="1"/>
              <a:t>Ingestion_S</a:t>
            </a:r>
            <a:r>
              <a:rPr lang="es-GT" dirty="0" err="1"/>
              <a:t>ervi</a:t>
            </a:r>
            <a:r>
              <a:rPr dirty="0"/>
              <a:t>ce:3151_Normalizar y Validar</a:t>
            </a: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977639" y="1901952"/>
            <a:ext cx="457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4434840" y="1865376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26280" y="1188720"/>
            <a:ext cx="1645920" cy="1463040"/>
          </a:xfrm>
          <a:prstGeom prst="roundRect">
            <a:avLst/>
          </a:prstGeom>
          <a:solidFill>
            <a:srgbClr val="FF6B00"/>
          </a:solidFill>
          <a:ln w="19050">
            <a:solidFill>
              <a:srgbClr val="FF9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RabbitMQ</a:t>
            </a:r>
            <a:br/>
            <a:br/>
            <a:r>
              <a:t>6 Exchanges</a:t>
            </a:r>
            <a:br/>
            <a:r>
              <a:t>23 Queues</a:t>
            </a:r>
            <a:br/>
            <a:r>
              <a:t>24 Bindings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01952"/>
            <a:ext cx="457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sosceles Triangle 13"/>
          <p:cNvSpPr/>
          <p:nvPr/>
        </p:nvSpPr>
        <p:spPr>
          <a:xfrm rot="5400000">
            <a:off x="6629400" y="1865376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720840" y="1371600"/>
            <a:ext cx="1554480" cy="1097280"/>
          </a:xfrm>
          <a:prstGeom prst="roundRect">
            <a:avLst/>
          </a:prstGeom>
          <a:solidFill>
            <a:srgbClr val="00508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Notification_Engine_x000B_:3152_Reglas y </a:t>
            </a:r>
            <a:r>
              <a:rPr dirty="0" err="1"/>
              <a:t>Orquestar</a:t>
            </a: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8275320" y="1901952"/>
            <a:ext cx="457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/>
          <p:cNvSpPr/>
          <p:nvPr/>
        </p:nvSpPr>
        <p:spPr>
          <a:xfrm rot="5400000">
            <a:off x="8732520" y="1865376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23960" y="1371600"/>
            <a:ext cx="1554480" cy="1097280"/>
          </a:xfrm>
          <a:prstGeom prst="roundRect">
            <a:avLst/>
          </a:prstGeom>
          <a:solidFill>
            <a:srgbClr val="00508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Channel Router_Service_:3154_x000B_Enrutar y </a:t>
            </a:r>
            <a:r>
              <a:rPr dirty="0" err="1"/>
              <a:t>Entregar</a:t>
            </a:r>
            <a:br>
              <a:rPr dirty="0"/>
            </a:b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10378440" y="1901952"/>
            <a:ext cx="457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sosceles Triangle 19"/>
          <p:cNvSpPr/>
          <p:nvPr/>
        </p:nvSpPr>
        <p:spPr>
          <a:xfrm rot="5400000">
            <a:off x="10835640" y="1865376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927080" y="1188720"/>
            <a:ext cx="1005840" cy="1463040"/>
          </a:xfrm>
          <a:prstGeom prst="roundRect">
            <a:avLst/>
          </a:prstGeom>
          <a:solidFill>
            <a:srgbClr val="6B1A1A"/>
          </a:solidFill>
          <a:ln w="19050">
            <a:solidFill>
              <a:srgbClr val="E8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Provider</a:t>
            </a:r>
            <a:br>
              <a:rPr dirty="0"/>
            </a:br>
            <a:r>
              <a:rPr dirty="0"/>
              <a:t>Adapters</a:t>
            </a:r>
            <a:br>
              <a:rPr dirty="0"/>
            </a:br>
            <a:br>
              <a:rPr dirty="0"/>
            </a:br>
            <a:r>
              <a:rPr sz="1000" dirty="0" err="1"/>
              <a:t>Mailgun</a:t>
            </a:r>
            <a:br>
              <a:rPr sz="1000" dirty="0"/>
            </a:br>
            <a:r>
              <a:rPr sz="1000" dirty="0"/>
              <a:t>WhatsApp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720840" y="2926080"/>
            <a:ext cx="1554480" cy="822960"/>
          </a:xfrm>
          <a:prstGeom prst="roundRect">
            <a:avLst/>
          </a:prstGeom>
          <a:solidFill>
            <a:srgbClr val="00508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endParaRPr lang="es-ES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Template Service_:3153_x000B_Renderizar (Handlebars)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7479792" y="2468880"/>
            <a:ext cx="36576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7443215" y="2926080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0" y="2560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899"/>
                </a:solidFill>
                <a:latin typeface="Segoe UI"/>
              </a:defRPr>
            </a:pPr>
            <a:r>
              <a:t>sync</a:t>
            </a:r>
            <a:br/>
            <a:r>
              <a:t>HTTP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023360"/>
            <a:ext cx="1554480" cy="822960"/>
          </a:xfrm>
          <a:prstGeom prst="roundRect">
            <a:avLst/>
          </a:prstGeom>
          <a:solidFill>
            <a:srgbClr val="1A6B4A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endParaRPr lang="es-ES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Bulk Upload_x000B_Service :3158_Procesamiento XLSX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1828800" y="4187952"/>
            <a:ext cx="457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67712" y="2468880"/>
            <a:ext cx="36576" cy="1737359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/>
          <p:cNvSpPr/>
          <p:nvPr/>
        </p:nvSpPr>
        <p:spPr>
          <a:xfrm>
            <a:off x="2231136" y="2359152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31720" y="3200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899"/>
                </a:solidFill>
                <a:latin typeface="Segoe UI"/>
              </a:defRPr>
            </a:pPr>
            <a:r>
              <a:t>HTTP POST</a:t>
            </a:r>
            <a:br/>
            <a:r>
              <a:t>/webhooks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120640"/>
            <a:ext cx="1554480" cy="822960"/>
          </a:xfrm>
          <a:prstGeom prst="roundRect">
            <a:avLst/>
          </a:prstGeom>
          <a:solidFill>
            <a:srgbClr val="3A3A5C"/>
          </a:solidFill>
          <a:ln w="19050">
            <a:solidFill>
              <a:srgbClr val="88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endParaRPr lang="es-ES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Email </a:t>
            </a:r>
            <a:r>
              <a:rPr dirty="0" err="1"/>
              <a:t>Ingest_Service</a:t>
            </a:r>
            <a:r>
              <a:rPr dirty="0"/>
              <a:t> :3157/2525_x000B_Ingestión SMTP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1828800" y="5468112"/>
            <a:ext cx="13716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182112" y="2651760"/>
            <a:ext cx="36576" cy="28346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sosceles Triangle 33"/>
          <p:cNvSpPr/>
          <p:nvPr/>
        </p:nvSpPr>
        <p:spPr>
          <a:xfrm>
            <a:off x="3145536" y="2542032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1168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899"/>
                </a:solidFill>
                <a:latin typeface="Segoe UI"/>
              </a:defRPr>
            </a:pPr>
            <a:r>
              <a:t>publishes to</a:t>
            </a:r>
            <a:br/>
            <a:r>
              <a:t>xch.events.incoming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2926080"/>
            <a:ext cx="1554480" cy="822960"/>
          </a:xfrm>
          <a:prstGeom prst="roundRect">
            <a:avLst/>
          </a:prstGeom>
          <a:solidFill>
            <a:srgbClr val="1A6B4A"/>
          </a:solidFill>
          <a:ln w="19050">
            <a:solidFill>
              <a:srgbClr val="00C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endParaRPr lang="es-ES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Audit Service_:3156_Seguimiento y </a:t>
            </a:r>
            <a:r>
              <a:rPr dirty="0" err="1"/>
              <a:t>Análisis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9582912" y="2468880"/>
            <a:ext cx="36576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Isosceles Triangle 37"/>
          <p:cNvSpPr/>
          <p:nvPr/>
        </p:nvSpPr>
        <p:spPr>
          <a:xfrm rot="10800000">
            <a:off x="9546336" y="2926080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899"/>
                </a:solidFill>
                <a:latin typeface="Segoe UI"/>
              </a:defRPr>
            </a:pPr>
            <a:r>
              <a:t>fire &amp;</a:t>
            </a:r>
            <a:br/>
            <a:r>
              <a:t>forget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4206240"/>
            <a:ext cx="1371600" cy="822960"/>
          </a:xfrm>
          <a:prstGeom prst="roundRect">
            <a:avLst/>
          </a:prstGeom>
          <a:solidFill>
            <a:srgbClr val="554080"/>
          </a:solidFill>
          <a:ln w="19050">
            <a:solidFill>
              <a:srgbClr val="99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Admin UI</a:t>
            </a:r>
            <a:br/>
            <a:r>
              <a:t>:3159</a:t>
            </a:r>
            <a:br/>
            <a:r>
              <a:t>Next.js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4599432"/>
            <a:ext cx="457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Isosceles Triangle 41"/>
          <p:cNvSpPr/>
          <p:nvPr/>
        </p:nvSpPr>
        <p:spPr>
          <a:xfrm rot="5400000">
            <a:off x="5943600" y="4562856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035040" y="4206240"/>
            <a:ext cx="1554480" cy="822960"/>
          </a:xfrm>
          <a:prstGeom prst="roundRect">
            <a:avLst/>
          </a:prstGeom>
          <a:solidFill>
            <a:srgbClr val="554080"/>
          </a:solidFill>
          <a:ln w="19050">
            <a:solidFill>
              <a:srgbClr val="99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endParaRPr lang="es-ES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Admin Service_x000B_:3155_Configuración y Reglas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4" name="Rounded Rectangle 43"/>
          <p:cNvSpPr/>
          <p:nvPr/>
        </p:nvSpPr>
        <p:spPr>
          <a:xfrm>
            <a:off x="8229600" y="4206240"/>
            <a:ext cx="1554480" cy="822960"/>
          </a:xfrm>
          <a:prstGeom prst="roundRect">
            <a:avLst/>
          </a:prstGeom>
          <a:solidFill>
            <a:srgbClr val="554080"/>
          </a:solidFill>
          <a:ln w="19050">
            <a:solidFill>
              <a:srgbClr val="99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endParaRPr lang="es-ES" dirty="0"/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Auth RBAC_x000B_Backend :3160_JWT y </a:t>
            </a:r>
            <a:r>
              <a:rPr dirty="0" err="1"/>
              <a:t>Usuarios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45" name="Rounded Rectangle 44"/>
          <p:cNvSpPr/>
          <p:nvPr/>
        </p:nvSpPr>
        <p:spPr>
          <a:xfrm>
            <a:off x="8229600" y="5303520"/>
            <a:ext cx="1554480" cy="822960"/>
          </a:xfrm>
          <a:prstGeom prst="roundRect">
            <a:avLst/>
          </a:prstGeom>
          <a:solidFill>
            <a:srgbClr val="554080"/>
          </a:solidFill>
          <a:ln w="19050">
            <a:solidFill>
              <a:srgbClr val="99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Auth RBAC</a:t>
            </a:r>
            <a:br/>
            <a:r>
              <a:t>Frontend :3161</a:t>
            </a:r>
            <a:br/>
            <a:r>
              <a:t>Next.js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88552" y="5029200"/>
            <a:ext cx="36576" cy="274319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Isosceles Triangle 46"/>
          <p:cNvSpPr/>
          <p:nvPr/>
        </p:nvSpPr>
        <p:spPr>
          <a:xfrm>
            <a:off x="8951976" y="4919472"/>
            <a:ext cx="109728" cy="109728"/>
          </a:xfrm>
          <a:prstGeom prst="triangl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241280" y="4206240"/>
            <a:ext cx="1371600" cy="822960"/>
          </a:xfrm>
          <a:prstGeom prst="roundRect">
            <a:avLst/>
          </a:prstGeom>
          <a:solidFill>
            <a:srgbClr val="554080"/>
          </a:solidFill>
          <a:ln w="19050">
            <a:solidFill>
              <a:srgbClr val="99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Segoe UI"/>
              </a:defRPr>
            </a:pPr>
            <a:r>
              <a:t>eCommerce</a:t>
            </a:r>
            <a:br/>
            <a:r>
              <a:t>Backoffice</a:t>
            </a:r>
            <a:br/>
            <a:r>
              <a:t>:3162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45252" y="5845277"/>
            <a:ext cx="5486400" cy="822960"/>
          </a:xfrm>
          <a:prstGeom prst="roundRect">
            <a:avLst/>
          </a:prstGeom>
          <a:solidFill>
            <a:srgbClr val="151528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582412" y="6028157"/>
            <a:ext cx="228600" cy="228600"/>
          </a:xfrm>
          <a:prstGeom prst="round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56732" y="600986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Segoe UI"/>
              </a:defRPr>
            </a:pPr>
            <a:r>
              <a:t>Pipeline Principal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62572" y="6028157"/>
            <a:ext cx="228600" cy="228600"/>
          </a:xfrm>
          <a:prstGeom prst="round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36892" y="600986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Segoe UI"/>
              </a:defRPr>
            </a:pPr>
            <a:r>
              <a:t>Broker de Mensajes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42732" y="6028157"/>
            <a:ext cx="228600" cy="228600"/>
          </a:xfrm>
          <a:prstGeom prst="round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17052" y="600986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Segoe UI"/>
              </a:defRPr>
            </a:pPr>
            <a:r>
              <a:t>Servicios de Soporte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22892" y="6028157"/>
            <a:ext cx="228600" cy="228600"/>
          </a:xfrm>
          <a:prstGeom prst="roundRect">
            <a:avLst/>
          </a:prstGeom>
          <a:solidFill>
            <a:srgbClr val="55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97212" y="600986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Segoe UI"/>
              </a:defRPr>
            </a:pPr>
            <a:r>
              <a:t>Admin / Auth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82412" y="6302477"/>
            <a:ext cx="228600" cy="228600"/>
          </a:xfrm>
          <a:prstGeom prst="round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56732" y="628418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Segoe UI"/>
              </a:defRPr>
            </a:pPr>
            <a:r>
              <a:t>Fuentes / Ingestión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62572" y="6302477"/>
            <a:ext cx="228600" cy="228600"/>
          </a:xfrm>
          <a:prstGeom prst="round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36892" y="628418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Segoe UI"/>
              </a:defRPr>
            </a:pPr>
            <a:r>
              <a:t>Proveedores Externos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D75780A5-B1A0-3CBD-926E-B8DF1D26FB06}"/>
              </a:ext>
            </a:extLst>
          </p:cNvPr>
          <p:cNvSpPr/>
          <p:nvPr/>
        </p:nvSpPr>
        <p:spPr>
          <a:xfrm>
            <a:off x="225650" y="4712306"/>
            <a:ext cx="275795" cy="26802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B674180B-F7D0-0F02-D386-5C1B40CA910A}"/>
              </a:ext>
            </a:extLst>
          </p:cNvPr>
          <p:cNvSpPr/>
          <p:nvPr/>
        </p:nvSpPr>
        <p:spPr>
          <a:xfrm>
            <a:off x="2230417" y="2039407"/>
            <a:ext cx="275795" cy="26802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D9F1B6F2-0FBF-F777-612C-C669A9BFD77C}"/>
              </a:ext>
            </a:extLst>
          </p:cNvPr>
          <p:cNvSpPr/>
          <p:nvPr/>
        </p:nvSpPr>
        <p:spPr>
          <a:xfrm>
            <a:off x="6637069" y="2392876"/>
            <a:ext cx="275795" cy="26802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2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7DC9585C-3D24-BC2E-A782-D687380FEE6E}"/>
              </a:ext>
            </a:extLst>
          </p:cNvPr>
          <p:cNvSpPr/>
          <p:nvPr/>
        </p:nvSpPr>
        <p:spPr>
          <a:xfrm>
            <a:off x="8704350" y="2371001"/>
            <a:ext cx="275795" cy="26802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2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7F9C590C-B625-7994-CB3A-B99882CEF8E6}"/>
              </a:ext>
            </a:extLst>
          </p:cNvPr>
          <p:cNvSpPr/>
          <p:nvPr/>
        </p:nvSpPr>
        <p:spPr>
          <a:xfrm>
            <a:off x="10863072" y="2563466"/>
            <a:ext cx="275795" cy="26802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2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68" name="Elipse 67">
            <a:extLst>
              <a:ext uri="{FF2B5EF4-FFF2-40B4-BE49-F238E27FC236}">
                <a16:creationId xmlns:a16="http://schemas.microsoft.com/office/drawing/2014/main" id="{15AACBAC-46BF-5880-BBEA-26EDF5CD5275}"/>
              </a:ext>
            </a:extLst>
          </p:cNvPr>
          <p:cNvSpPr/>
          <p:nvPr/>
        </p:nvSpPr>
        <p:spPr>
          <a:xfrm>
            <a:off x="6571310" y="3556672"/>
            <a:ext cx="275795" cy="26802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2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920025C5-7BC4-62A7-0671-0D0EF0451DE1}"/>
              </a:ext>
            </a:extLst>
          </p:cNvPr>
          <p:cNvSpPr/>
          <p:nvPr/>
        </p:nvSpPr>
        <p:spPr>
          <a:xfrm>
            <a:off x="3979330" y="4947052"/>
            <a:ext cx="275795" cy="26802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GT" sz="1200" dirty="0">
                <a:solidFill>
                  <a:schemeClr val="tx1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3384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Desarrollo Guiado por Especificaciones vs Vibe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63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Dos enfoques de desarrollo asistido por IA — mismas herramientas, resultados fundamentalmente diferentes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2814" y="970034"/>
            <a:ext cx="5303520" cy="1940314"/>
          </a:xfrm>
          <a:prstGeom prst="roundRect">
            <a:avLst/>
          </a:prstGeom>
          <a:solidFill>
            <a:srgbClr val="3A2815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65694" y="106147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00"/>
                </a:solidFill>
                <a:latin typeface="Segoe UI"/>
              </a:defRPr>
            </a:pPr>
            <a:r>
              <a:t>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5694" y="147295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"Escribe un prompt y mira qué pasa"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5694" y="1884434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Loose prompts, no upfront design, iterate by feel.</a:t>
            </a:r>
            <a:br>
              <a:rPr dirty="0"/>
            </a:br>
            <a:r>
              <a:rPr dirty="0"/>
              <a:t>Fast for prototypes — but inconsistent quality,</a:t>
            </a:r>
            <a:br>
              <a:rPr dirty="0"/>
            </a:br>
            <a:r>
              <a:rPr dirty="0"/>
              <a:t>no test strategy, hard to maintain past ~1K </a:t>
            </a:r>
            <a:r>
              <a:rPr dirty="0" err="1"/>
              <a:t>LoC.</a:t>
            </a:r>
            <a:br>
              <a:rPr dirty="0"/>
            </a:br>
            <a:r>
              <a:rPr dirty="0"/>
              <a:t>Best for: hackathons, MVPs, throwaway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988879"/>
            <a:ext cx="5303520" cy="1851660"/>
          </a:xfrm>
          <a:prstGeom prst="roundRect">
            <a:avLst/>
          </a:prstGeom>
          <a:solidFill>
            <a:srgbClr val="1528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0803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Segoe UI"/>
              </a:defRPr>
            </a:pPr>
            <a:r>
              <a:t>Desarrollo Guiado por Especificaciones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4917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"Primero diseña, luego instruye a la IA con precisión"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0327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Detailed design docs, DB schemas, API contracts —</a:t>
            </a:r>
            <a:br/>
            <a:r>
              <a:t>all defined before writing line 1 of code.</a:t>
            </a:r>
            <a:br/>
            <a:r>
              <a:t>AI executes against precise specifications.</a:t>
            </a:r>
            <a:br/>
            <a:r>
              <a:t>Best for: production systems, teams, long-lived projects.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04863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7B"/>
                </a:solidFill>
                <a:latin typeface="Segoe UI"/>
              </a:defRPr>
            </a:pPr>
            <a:r>
              <a:rPr dirty="0"/>
              <a:t>Por qué Importa el Desarrollo Guiado por Especificaciones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3417205"/>
            <a:ext cx="73152" cy="7772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41720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 IA es tan buena como sus instrucciones.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69152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rPr dirty="0"/>
              <a:t>Prompts vagos producen código vago. Las especificaciones detalladas le dan a la IA restricciones exactas — modelos de datos, códigos de error, contratos de API, topologías de colas — para que genere código de nivel producción en el primer intento, no en el quinto.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4285885"/>
            <a:ext cx="73152" cy="7772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28588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Las especificaciones son la única fuente de verdad para todo el equipo.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56020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Cuando cada servicio tiene un documento de diseño, script de BD y referencia de endpoints, cualquier desarrollador (o IA) puede tomar cualquier servicio y saber exactamente qué debe hacer. Sin conocimiento tribal, sin adivinanzas.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5154565"/>
            <a:ext cx="73152" cy="7772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515456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Puedes escalar sin caos.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42888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Este proyecto: 14 microservicios, 45K LoC fuente, 59K LoC de pruebas, 2,375+ pruebas unitarias — diseñado y construido en ~15 días. Esa velocidad solo es posible porque las especificaciones eliminaron la ambigüedad y el retrabajo.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6023245"/>
            <a:ext cx="73152" cy="77724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602324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Las especificaciones sobreviven al código.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29756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El código se refactoriza, reescribe o reemplaza. Las especificaciones documentan el POR QUÉ y el QUÉ — siguen siendo valiosas mucho después de que cambie la implementación actual. Son la memoria institucional del sistema.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788</Words>
  <Application>Microsoft Office PowerPoint</Application>
  <PresentationFormat>Panorámica</PresentationFormat>
  <Paragraphs>100</Paragraphs>
  <Slides>4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Omar Armando Ola Garcia</cp:lastModifiedBy>
  <cp:revision>19</cp:revision>
  <dcterms:created xsi:type="dcterms:W3CDTF">2013-01-27T09:14:16Z</dcterms:created>
  <dcterms:modified xsi:type="dcterms:W3CDTF">2026-03-05T22:30:11Z</dcterms:modified>
  <cp:category/>
</cp:coreProperties>
</file>